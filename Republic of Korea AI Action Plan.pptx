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KoPub돋움체 Bold" panose="00000800000000000000" pitchFamily="2" charset="-127"/>
      <p:bold r:id="rId18"/>
    </p:embeddedFont>
    <p:embeddedFont>
      <p:font typeface="Urbanist" panose="020B0600000101010101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2" autoAdjust="0"/>
  </p:normalViewPr>
  <p:slideViewPr>
    <p:cSldViewPr snapToGrid="0">
      <p:cViewPr varScale="1">
        <p:scale>
          <a:sx n="107" d="100"/>
          <a:sy n="107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예산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26D-424F-A8F6-194C53418FF3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26D-424F-A8F6-194C53418FF3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26D-424F-A8F6-194C53418FF3}"/>
              </c:ext>
            </c:extLst>
          </c:dPt>
          <c:dLbls>
            <c:dLbl>
              <c:idx val="0"/>
              <c:layout>
                <c:manualLayout>
                  <c:x val="-0.23249585309097731"/>
                  <c:y val="9.91345929307555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26D-424F-A8F6-194C53418FF3}"/>
                </c:ext>
              </c:extLst>
            </c:dLbl>
            <c:dLbl>
              <c:idx val="1"/>
              <c:layout>
                <c:manualLayout>
                  <c:x val="0.12827104640937734"/>
                  <c:y val="-0.23322375960516303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26D-424F-A8F6-194C53418FF3}"/>
                </c:ext>
              </c:extLst>
            </c:dLbl>
            <c:dLbl>
              <c:idx val="2"/>
              <c:layout>
                <c:manualLayout>
                  <c:x val="0.21947870638904818"/>
                  <c:y val="0.18718702414330404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096932972297583"/>
                      <c:h val="0.1310013434428904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26D-424F-A8F6-194C53418F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j-ea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AI 혁신 생태계 조성</c:v>
                </c:pt>
                <c:pt idx="1">
                  <c:v>범국가적 AI 대전환</c:v>
                </c:pt>
                <c:pt idx="2">
                  <c:v>글로벌 AI 기본사회 기여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30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6D-424F-A8F6-194C53418FF3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+mj-ea"/>
          <a:ea typeface="+mj-ea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81325"/>
            <a:ext cx="1104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866775"/>
            <a:ext cx="116014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대한민국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인공지능</a:t>
            </a:r>
            <a:r>
              <a:rPr lang="en-US" sz="60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60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행동계획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555307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AI G3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도약을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위한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국가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총력전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전략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(2026-2030)</a:t>
            </a:r>
            <a:endParaRPr dirty="0"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990850"/>
            <a:ext cx="1102995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95275" y="2362200"/>
            <a:ext cx="1160145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3대 </a:t>
            </a:r>
            <a:r>
              <a:rPr lang="en-US" sz="3750" b="1" i="0" u="none" strike="noStrike" cap="none" dirty="0" err="1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정책축</a:t>
            </a:r>
            <a:r>
              <a:rPr lang="en-US" sz="375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및 </a:t>
            </a:r>
            <a:r>
              <a:rPr lang="en-US" sz="3750" b="1" i="0" u="none" strike="noStrike" cap="none" dirty="0" err="1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비전</a:t>
            </a:r>
            <a:endParaRPr dirty="0"/>
          </a:p>
        </p:txBody>
      </p:sp>
      <p:sp>
        <p:nvSpPr>
          <p:cNvPr id="95" name="Google Shape;95;p14"/>
          <p:cNvSpPr/>
          <p:nvPr/>
        </p:nvSpPr>
        <p:spPr>
          <a:xfrm>
            <a:off x="571500" y="3371850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809750" y="3695700"/>
            <a:ext cx="85725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"세계 최고의 AI 혁신 생태계를 조성하고,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범국가적 AI 대전환을 통해 글로벌 AI 기본사회를 선도한다."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7820"/>
            <a:ext cx="352425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327820"/>
            <a:ext cx="352425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327820"/>
            <a:ext cx="352425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26707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14400" y="3385095"/>
            <a:ext cx="298037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컴퓨팅</a:t>
            </a:r>
            <a:r>
              <a:rPr lang="en-US" sz="21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파워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914400" y="4118520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2030년까지 첨단 GPU 5만 장 이상 확보 및 국산 AI 반도체(NPU) 대규모 도입 추진.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76775" y="26707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4676775" y="3385095"/>
            <a:ext cx="298037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데이터센터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4676775" y="4118520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하이퍼스케일 및 지역 분산형 강소 AI 데이터센터 구축, 전력 및 부지 수용성 해결.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39150" y="26707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439150" y="3385095"/>
            <a:ext cx="298037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국가</a:t>
            </a:r>
            <a:r>
              <a:rPr lang="en-US" sz="21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데이터</a:t>
            </a:r>
            <a:r>
              <a:rPr lang="en-US" sz="21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플랫폼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8439150" y="4118520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민간·공공 데이터를 통합 자산화하고 AI 학습 데이터 공유 생태계 활성화.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6800" y="282312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29175" y="282312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05837" y="282312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571500"/>
            <a:ext cx="116014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AI </a:t>
            </a:r>
            <a:r>
              <a:rPr lang="en-US" sz="3600" b="1" i="0" u="none" strike="noStrike" cap="none" dirty="0" err="1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고속도로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: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핵심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인프라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확충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587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75395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6381750" y="2418308"/>
            <a:ext cx="550068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피지컬</a:t>
            </a:r>
            <a:r>
              <a:rPr lang="en-US" sz="27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AI 및 </a:t>
            </a:r>
            <a:r>
              <a:rPr lang="en-US" sz="27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국가</a:t>
            </a:r>
            <a:r>
              <a:rPr lang="en-US" sz="27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초지능</a:t>
            </a:r>
            <a:r>
              <a:rPr lang="en-US" sz="27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연구</a:t>
            </a:r>
            <a:endParaRPr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6381750" y="3132683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피지컬 AI: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로봇, 자율주행 등 물리 환경 인지·추론 기술 확보 (2030년 세계 1위 목표)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381750" y="3894683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AGI 대응: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(가칭)국가 초지능 연구소 설립으로 첨단 AI 기술 독립적 확보.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381750" y="4656683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과학 AI: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기초과학 난제 해결을 위한 'AI 연구동료' 개발 및 R&amp;D 패러다임 전환.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571500"/>
            <a:ext cx="116014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차세대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AI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기술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선점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2774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737270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1333500" y="1880145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공교육 혁신: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초중고 전 학년 디지털·AI 교육 필수 이수 및 모듈형 교육과정 도입.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1333500" y="2689770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고급 인재 양성: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AI 중심대학 확대, 석·박사급 탁월한 인재 조기 발굴 및 집중 지원.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333500" y="3499395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글로벌 인재 유치: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파격적 정주 여건 제공 및 비자 제도 개선으로 해외 석학 확보.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333500" y="4309020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산업 AX 인력: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2,000만 전 산업 종사자 대상 AI 활용 문제 해결 역량 강화 교육.</a:t>
            </a:r>
            <a:endParaRPr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191824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72787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2500" y="353749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2500" y="434712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571500"/>
            <a:ext cx="116014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AI </a:t>
            </a:r>
            <a:r>
              <a:rPr lang="en-US" sz="3600" b="1" i="0" u="none" strike="noStrike" cap="none" dirty="0" err="1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핵심인재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확보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및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교육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혁신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71500" y="571500"/>
            <a:ext cx="52006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AI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규제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혁신</a:t>
            </a:r>
            <a:endParaRPr dirty="0"/>
          </a:p>
        </p:txBody>
      </p:sp>
      <p:pic>
        <p:nvPicPr>
          <p:cNvPr id="152" name="Google Shape;15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71500" y="2280195"/>
            <a:ext cx="520065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신뢰와</a:t>
            </a:r>
            <a:r>
              <a:rPr lang="en-US" sz="1404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1404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혁신의</a:t>
            </a:r>
            <a:r>
              <a:rPr lang="en-US" sz="1404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1404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조화</a:t>
            </a:r>
            <a:endParaRPr dirty="0"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288979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개인정보 및 미개방 산업 데이터의 안전한 활용을 위한 가이드라인 및 법령 정비.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374704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AI 학습 목적 저작물 활용을 위한 '저작권법' 개정 및 TDM 면책 규정 도입 추진.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460429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'네거티브 규제' 체계 우선 도입으로 스타트업 혁신 실증 환경 조성.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08720"/>
            <a:ext cx="3524250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1908720"/>
            <a:ext cx="3524250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1908720"/>
            <a:ext cx="3524250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08720"/>
            <a:ext cx="3524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762000" y="4623345"/>
            <a:ext cx="330041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제조·바이오</a:t>
            </a:r>
            <a:r>
              <a:rPr lang="en-US" sz="165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AX</a:t>
            </a:r>
            <a:endParaRPr dirty="0"/>
          </a:p>
        </p:txBody>
      </p:sp>
      <p:sp>
        <p:nvSpPr>
          <p:cNvPr id="167" name="Google Shape;167;p19"/>
          <p:cNvSpPr txBox="1"/>
          <p:nvPr/>
        </p:nvSpPr>
        <p:spPr>
          <a:xfrm>
            <a:off x="762000" y="5090070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자율 제조 보급률 40% 달성 및 신약 개발 기간 단축.</a:t>
            </a:r>
            <a:endParaRPr/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33875" y="1908720"/>
            <a:ext cx="3524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4524375" y="4623345"/>
            <a:ext cx="330041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교통·금융</a:t>
            </a:r>
            <a:r>
              <a:rPr lang="en-US" sz="165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AX</a:t>
            </a:r>
            <a:endParaRPr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4524375" y="5090070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L4 자율주행 상용화 기반 구축 및 포용적 금융 AI 확산.</a:t>
            </a:r>
            <a:endParaRPr/>
          </a:p>
        </p:txBody>
      </p:sp>
      <p:pic>
        <p:nvPicPr>
          <p:cNvPr id="171" name="Google Shape;171;p19"/>
          <p:cNvPicPr preferRelativeResize="0"/>
          <p:nvPr/>
        </p:nvPicPr>
        <p:blipFill rotWithShape="1">
          <a:blip r:embed="rId7">
            <a:alphaModFix/>
          </a:blip>
          <a:srcRect t="16216" b="16216"/>
          <a:stretch/>
        </p:blipFill>
        <p:spPr>
          <a:xfrm>
            <a:off x="8096250" y="1908720"/>
            <a:ext cx="3524250" cy="238125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8286750" y="4623345"/>
            <a:ext cx="330041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기후·에너지</a:t>
            </a:r>
            <a:r>
              <a:rPr lang="en-US" sz="165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AX</a:t>
            </a:r>
            <a:endParaRPr dirty="0"/>
          </a:p>
        </p:txBody>
      </p:sp>
      <p:sp>
        <p:nvSpPr>
          <p:cNvPr id="173" name="Google Shape;173;p19"/>
          <p:cNvSpPr txBox="1"/>
          <p:nvPr/>
        </p:nvSpPr>
        <p:spPr>
          <a:xfrm>
            <a:off x="8286750" y="5090070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AI 기반 지능형 전력망 실증 및 탄소 중립 가속화.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571500"/>
            <a:ext cx="116014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범국가적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산업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AX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대전환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587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71500" y="215637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업무 관리: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칸막이를 제거한 클라우드 기반 AI 업무 플랫폼 구축.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291837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대국민 서비스: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하나의 ID로 모든 행정 서류 제출 없이 열람 승인으로 대체.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368037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AI 보조교사: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교사 지원형 AI 튜터 도입으로 교육 현장 행정 부담 경감.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444237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사법 투명성: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판결문 및 부동산 등기 데이터의 머신리더블 공개 추진.</a:t>
            </a:r>
            <a:endParaRPr/>
          </a:p>
        </p:txBody>
      </p:sp>
      <p:pic>
        <p:nvPicPr>
          <p:cNvPr id="185" name="Google Shape;18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7539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71500" y="571500"/>
            <a:ext cx="116014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공공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AX: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AI-Native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정부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2760583" y="2276475"/>
            <a:ext cx="6670833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 err="1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국방</a:t>
            </a:r>
            <a:r>
              <a:rPr lang="en-US" sz="45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및 </a:t>
            </a:r>
            <a:r>
              <a:rPr lang="en-US" sz="4500" b="1" i="0" u="none" strike="noStrike" cap="none" dirty="0" err="1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문화</a:t>
            </a:r>
            <a:r>
              <a:rPr lang="en-US" sz="45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45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AI </a:t>
            </a:r>
            <a:r>
              <a:rPr lang="en-US" sz="45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강국</a:t>
            </a:r>
            <a:r>
              <a:rPr lang="en-US" sz="45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45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도약</a:t>
            </a:r>
            <a:endParaRPr dirty="0"/>
          </a:p>
        </p:txBody>
      </p:sp>
      <p:sp>
        <p:nvSpPr>
          <p:cNvPr id="193" name="Google Shape;193;p21"/>
          <p:cNvSpPr txBox="1"/>
          <p:nvPr/>
        </p:nvSpPr>
        <p:spPr>
          <a:xfrm>
            <a:off x="2990850" y="3686175"/>
            <a:ext cx="62103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장병과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AI가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협업하는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스마트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정예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강군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구현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및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K-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컬처와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K-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AI의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동반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진출로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글로벌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문화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패권</a:t>
            </a:r>
            <a:r>
              <a:rPr lang="en-US" sz="21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강화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55390"/>
            <a:ext cx="11049000" cy="483110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571500" y="510912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대한민국은 제조·ICT 강점을 기반으로 전 산업 영역에서 독보적인 AI 전환 성과를 창출할 것입니다.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571500" y="571500"/>
            <a:ext cx="116014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국가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AI </a:t>
            </a:r>
            <a:r>
              <a:rPr lang="en-US" sz="3600" b="1" i="0" u="none" strike="noStrike" cap="none" dirty="0" err="1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경쟁력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목표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(2030)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571500" y="571500"/>
            <a:ext cx="116014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정책축별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예산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및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역량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배분</a:t>
            </a:r>
            <a:endParaRPr dirty="0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8204E955-5840-C644-4F59-57A2F11291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8895391"/>
              </p:ext>
            </p:extLst>
          </p:nvPr>
        </p:nvGraphicFramePr>
        <p:xfrm>
          <a:off x="2624137" y="1463640"/>
          <a:ext cx="6943726" cy="46291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4"/>
          <p:cNvSpPr/>
          <p:nvPr/>
        </p:nvSpPr>
        <p:spPr>
          <a:xfrm>
            <a:off x="571500" y="3194744"/>
            <a:ext cx="1104900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014019"/>
            <a:ext cx="11049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4"/>
          <p:cNvSpPr/>
          <p:nvPr/>
        </p:nvSpPr>
        <p:spPr>
          <a:xfrm>
            <a:off x="1857375" y="310901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4619625" y="310901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7381875" y="310901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10144125" y="310901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502443" y="3680519"/>
            <a:ext cx="290036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2026</a:t>
            </a:r>
            <a:endParaRPr dirty="0"/>
          </a:p>
        </p:txBody>
      </p:sp>
      <p:sp>
        <p:nvSpPr>
          <p:cNvPr id="221" name="Google Shape;221;p24"/>
          <p:cNvSpPr txBox="1"/>
          <p:nvPr/>
        </p:nvSpPr>
        <p:spPr>
          <a:xfrm>
            <a:off x="571500" y="4147244"/>
            <a:ext cx="2762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범정부 추진체계 구축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규제 샌드박스 확대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3264693" y="1594544"/>
            <a:ext cx="290036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2027</a:t>
            </a:r>
            <a:endParaRPr dirty="0"/>
          </a:p>
        </p:txBody>
      </p:sp>
      <p:sp>
        <p:nvSpPr>
          <p:cNvPr id="223" name="Google Shape;223;p24"/>
          <p:cNvSpPr txBox="1"/>
          <p:nvPr/>
        </p:nvSpPr>
        <p:spPr>
          <a:xfrm>
            <a:off x="3333750" y="2061269"/>
            <a:ext cx="2762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독자 파운데이션 모델 확보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L4 자율주행 실증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6026943" y="3680519"/>
            <a:ext cx="290036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2028</a:t>
            </a:r>
            <a:endParaRPr dirty="0"/>
          </a:p>
        </p:txBody>
      </p:sp>
      <p:sp>
        <p:nvSpPr>
          <p:cNvPr id="225" name="Google Shape;225;p24"/>
          <p:cNvSpPr txBox="1"/>
          <p:nvPr/>
        </p:nvSpPr>
        <p:spPr>
          <a:xfrm>
            <a:off x="6096000" y="4147244"/>
            <a:ext cx="2762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GPU 5만장 인프라 완비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휴머노이드 로봇 상용화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8789193" y="1594544"/>
            <a:ext cx="290036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2030</a:t>
            </a:r>
            <a:endParaRPr dirty="0"/>
          </a:p>
        </p:txBody>
      </p:sp>
      <p:sp>
        <p:nvSpPr>
          <p:cNvPr id="227" name="Google Shape;227;p24"/>
          <p:cNvSpPr txBox="1"/>
          <p:nvPr/>
        </p:nvSpPr>
        <p:spPr>
          <a:xfrm>
            <a:off x="8858250" y="2061269"/>
            <a:ext cx="2762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AI G3 국가 안착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제조 AI 2030 완성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571500" y="415379"/>
            <a:ext cx="116014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대한민국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AI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행동계획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로드맵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/>
          <p:cNvSpPr txBox="1"/>
          <p:nvPr/>
        </p:nvSpPr>
        <p:spPr>
          <a:xfrm>
            <a:off x="295275" y="1771650"/>
            <a:ext cx="1160145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Questions?</a:t>
            </a:r>
            <a:endParaRPr dirty="0"/>
          </a:p>
        </p:txBody>
      </p:sp>
      <p:sp>
        <p:nvSpPr>
          <p:cNvPr id="235" name="Google Shape;235;p25"/>
          <p:cNvSpPr/>
          <p:nvPr/>
        </p:nvSpPr>
        <p:spPr>
          <a:xfrm>
            <a:off x="5524500" y="3581400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571500" y="400050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경청해주셔서 감사합니다.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571500" y="46482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대한민국 인공지능 전략위원회 | 2025. 12.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6"/>
          <p:cNvSpPr/>
          <p:nvPr/>
        </p:nvSpPr>
        <p:spPr>
          <a:xfrm>
            <a:off x="571500" y="1561058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6"/>
          <p:cNvSpPr/>
          <p:nvPr/>
        </p:nvSpPr>
        <p:spPr>
          <a:xfrm>
            <a:off x="571500" y="2332583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571500" y="3104108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/>
          <p:nvPr/>
        </p:nvSpPr>
        <p:spPr>
          <a:xfrm>
            <a:off x="571500" y="3875633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571500" y="4647158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571500" y="23230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6"/>
          <p:cNvSpPr/>
          <p:nvPr/>
        </p:nvSpPr>
        <p:spPr>
          <a:xfrm>
            <a:off x="571500" y="23230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571500" y="30945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571500" y="30945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571500" y="38661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571500" y="38661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571500" y="54091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571500" y="54091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0393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 txBox="1"/>
          <p:nvPr/>
        </p:nvSpPr>
        <p:spPr>
          <a:xfrm>
            <a:off x="1666875" y="171107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https://thequantuminsider.com/wp-content/uploads/2025/06/flag-of-south-korea-mosaic.jpg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1666875" y="1944439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thequantuminsider.com</a:t>
            </a:r>
            <a:endParaRPr/>
          </a:p>
        </p:txBody>
      </p:sp>
      <p:pic>
        <p:nvPicPr>
          <p:cNvPr id="261" name="Google Shape;26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7545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/>
          <p:nvPr/>
        </p:nvSpPr>
        <p:spPr>
          <a:xfrm>
            <a:off x="1666875" y="248260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https://img.pikbest.com/wp/202347/artificial-intelligence-robot-head-with-a-holographic-brain-3d-illustration_9750596.jpg!w700wp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1666875" y="2715964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pikbest.com</a:t>
            </a:r>
            <a:endParaRPr/>
          </a:p>
        </p:txBody>
      </p:sp>
      <p:pic>
        <p:nvPicPr>
          <p:cNvPr id="264" name="Google Shape;264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4698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6"/>
          <p:cNvSpPr txBox="1"/>
          <p:nvPr/>
        </p:nvSpPr>
        <p:spPr>
          <a:xfrm>
            <a:off x="1666875" y="325412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https://media.craiyon.com/2025-10-18/JOAiIXxpTa2f1g2NnkzmOg.webp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1666875" y="3487489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www.craiyon.com</a:t>
            </a:r>
            <a:endParaRPr/>
          </a:p>
        </p:txBody>
      </p:sp>
      <p:pic>
        <p:nvPicPr>
          <p:cNvPr id="267" name="Google Shape;267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1850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1666875" y="402565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https://png.pngtree.com/thumb_back/fw800/background/20251126/pngtree-digital-security-shield-with-padlock-icon-on-dark-abstract-background-image_20518952.webp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1666875" y="4259014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/>
          </a:p>
        </p:txBody>
      </p:sp>
      <p:pic>
        <p:nvPicPr>
          <p:cNvPr id="270" name="Google Shape;270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79003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1666875" y="479717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https://www.ehat.com.tw/wp-content/uploads/2025/08/d912ac82-8896-4f72-8afd-b95711a36fc9-1.jpg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1666875" y="5030539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www.ehat.com.tw</a:t>
            </a:r>
            <a:endParaRPr/>
          </a:p>
        </p:txBody>
      </p:sp>
      <p:pic>
        <p:nvPicPr>
          <p:cNvPr id="273" name="Google Shape;273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56155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/>
          <p:nvPr/>
        </p:nvSpPr>
        <p:spPr>
          <a:xfrm>
            <a:off x="1666875" y="556870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https://holysainthigh.in/wp-content/uploads/2024/11/futuristic-environmentally-friendly-city-with-green-spaces-1-scaled.jpg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1666875" y="5802064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holysainthigh.in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571500" y="571500"/>
            <a:ext cx="116014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Image Sources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/>
          <p:nvPr/>
        </p:nvSpPr>
        <p:spPr>
          <a:xfrm>
            <a:off x="571500" y="271834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7"/>
          <p:cNvSpPr/>
          <p:nvPr/>
        </p:nvSpPr>
        <p:spPr>
          <a:xfrm>
            <a:off x="571500" y="348987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571500" y="34803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571500" y="34803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7"/>
          <p:cNvSpPr/>
          <p:nvPr/>
        </p:nvSpPr>
        <p:spPr>
          <a:xfrm>
            <a:off x="571500" y="42518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571500" y="42518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6122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 txBox="1"/>
          <p:nvPr/>
        </p:nvSpPr>
        <p:spPr>
          <a:xfrm>
            <a:off x="1666875" y="2868364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https://images.presentationgo.com/2025/04/modern-smart-office-building.jpg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1666875" y="310172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www.presentationgo.com</a:t>
            </a:r>
            <a:endParaRPr/>
          </a:p>
        </p:txBody>
      </p:sp>
      <p:pic>
        <p:nvPicPr>
          <p:cNvPr id="291" name="Google Shape;29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327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7"/>
          <p:cNvSpPr txBox="1"/>
          <p:nvPr/>
        </p:nvSpPr>
        <p:spPr>
          <a:xfrm>
            <a:off x="1666875" y="3639889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https://storage.united24media.com/thumbs/x/f/0e/26da5c77a400d41b17018b55453f60ef.jpg</a:t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1666875" y="387325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united24media.com</a:t>
            </a:r>
            <a:endParaRPr/>
          </a:p>
        </p:txBody>
      </p:sp>
      <p:pic>
        <p:nvPicPr>
          <p:cNvPr id="294" name="Google Shape;294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042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7"/>
          <p:cNvSpPr txBox="1"/>
          <p:nvPr/>
        </p:nvSpPr>
        <p:spPr>
          <a:xfrm>
            <a:off x="1666875" y="4411414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https://tdhj.org/wp-content/uploads/2025/05/shutterstock_2481957515.jpg</a:t>
            </a:r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1666875" y="464477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tdhj.org</a:t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571500" y="571500"/>
            <a:ext cx="116014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oppins"/>
                <a:sym typeface="Poppins"/>
              </a:rPr>
              <a:t>Image Sources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pub">
      <a:majorFont>
        <a:latin typeface="KoPub돋움체 Bold"/>
        <a:ea typeface="KoPub돋움체 Bold"/>
        <a:cs typeface=""/>
      </a:majorFont>
      <a:minorFont>
        <a:latin typeface="KoPub돋움체 Light"/>
        <a:ea typeface="KoPub돋움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</Words>
  <Application>Microsoft Office PowerPoint</Application>
  <PresentationFormat>와이드스크린</PresentationFormat>
  <Paragraphs>78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KoPub돋움체 Bold</vt:lpstr>
      <vt:lpstr>Urbanist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이동훈(Tonghoon Lee)</cp:lastModifiedBy>
  <cp:revision>1</cp:revision>
  <dcterms:modified xsi:type="dcterms:W3CDTF">2026-01-05T04:44:55Z</dcterms:modified>
</cp:coreProperties>
</file>